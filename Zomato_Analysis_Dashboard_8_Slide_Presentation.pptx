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Restaurants</c:v>
                </c:pt>
              </c:strCache>
            </c:strRef>
          </c:tx>
          <c:spPr>
            <a:solidFill>
              <a:srgbClr val="1991FF"/>
            </a:solidFill>
            <a:ln>
              <a:solidFill>
                <a:srgbClr val="1991FF"/>
              </a:solidFill>
            </a:ln>
          </c:spPr>
          <c:cat>
            <c:strRef>
              <c:f>Sheet1!$A$2:$A$6</c:f>
              <c:strCache>
                <c:ptCount val="5"/>
                <c:pt idx="0">
                  <c:v>New Delhi</c:v>
                </c:pt>
                <c:pt idx="1">
                  <c:v>Gurgaon</c:v>
                </c:pt>
                <c:pt idx="2">
                  <c:v>Noida</c:v>
                </c:pt>
                <c:pt idx="3">
                  <c:v>Faridabad</c:v>
                </c:pt>
                <c:pt idx="4">
                  <c:v>Ghaziabad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5500</c:v>
                </c:pt>
                <c:pt idx="1">
                  <c:v>1100</c:v>
                </c:pt>
                <c:pt idx="2">
                  <c:v>1050</c:v>
                </c:pt>
                <c:pt idx="3">
                  <c:v>250</c:v>
                </c:pt>
                <c:pt idx="4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7F5F5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664C5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DCCDCF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F7F5F5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7D0097"/>
              </a:solidFill>
            </c:spPr>
          </c:dPt>
          <c:dPt>
            <c:idx val="1"/>
            <c:spPr>
              <a:solidFill>
                <a:srgbClr val="DC41A0"/>
              </a:solidFill>
            </c:spPr>
          </c:dPt>
          <c:dPt>
            <c:idx val="2"/>
            <c:spPr>
              <a:solidFill>
                <a:srgbClr val="E6AABE"/>
              </a:solidFill>
            </c:spPr>
          </c:dPt>
          <c:cat>
            <c:strRef>
              <c:f>Sheet1!$A$2:$A$4</c:f>
              <c:strCache>
                <c:ptCount val="3"/>
                <c:pt idx="0">
                  <c:v>No online delivery</c:v>
                </c:pt>
                <c:pt idx="1">
                  <c:v>Yes online delivery</c:v>
                </c:pt>
                <c:pt idx="2">
                  <c:v>Other / unclear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74.29</c:v>
                </c:pt>
                <c:pt idx="1">
                  <c:v>25.65</c:v>
                </c:pt>
                <c:pt idx="2">
                  <c:v>0.06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000">
              <a:solidFill>
                <a:srgbClr val="F7F5F5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 (approx.)</c:v>
                </c:pt>
              </c:strCache>
            </c:strRef>
          </c:tx>
          <c:spPr>
            <a:solidFill>
              <a:srgbClr val="1991FF"/>
            </a:solidFill>
            <a:ln>
              <a:solidFill>
                <a:srgbClr val="1991FF"/>
              </a:solidFill>
            </a:ln>
          </c:spPr>
          <c:cat>
            <c:strRef>
              <c:f>Sheet1!$A$2:$A$5</c:f>
              <c:strCache>
                <c:ptCount val="4"/>
                <c:pt idx="0">
                  <c:v>Rating 1</c:v>
                </c:pt>
                <c:pt idx="1">
                  <c:v>Rating 2</c:v>
                </c:pt>
                <c:pt idx="2">
                  <c:v>Rating 3</c:v>
                </c:pt>
                <c:pt idx="3">
                  <c:v>Rating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8900</c:v>
                </c:pt>
                <c:pt idx="1">
                  <c:v>9200</c:v>
                </c:pt>
                <c:pt idx="2">
                  <c:v>5200</c:v>
                </c:pt>
                <c:pt idx="3">
                  <c:v>2200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7F5F5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664C5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DCCDCF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F7F5F5"/>
          </a:solidFill>
          <a:latin typeface="Aptos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spPr>
              <a:solidFill>
                <a:srgbClr val="7D0097"/>
              </a:solidFill>
            </c:spPr>
          </c:dPt>
          <c:dPt>
            <c:idx val="1"/>
            <c:spPr>
              <a:solidFill>
                <a:srgbClr val="D2BE1E"/>
              </a:solidFill>
            </c:spPr>
          </c:dPt>
          <c:dPt>
            <c:idx val="2"/>
            <c:spPr>
              <a:solidFill>
                <a:srgbClr val="645AD2"/>
              </a:solidFill>
            </c:spPr>
          </c:dPt>
          <c:dPt>
            <c:idx val="3"/>
            <c:spPr>
              <a:solidFill>
                <a:srgbClr val="009196"/>
              </a:solidFill>
            </c:spPr>
          </c:dPt>
          <c:dPt>
            <c:idx val="4"/>
            <c:spPr>
              <a:solidFill>
                <a:srgbClr val="DC41A0"/>
              </a:solidFill>
            </c:spPr>
          </c:dPt>
          <c:cat>
            <c:strRef>
              <c:f>Sheet1!$A$2:$A$6</c:f>
              <c:strCache>
                <c:ptCount val="5"/>
                <c:pt idx="0">
                  <c:v>Average</c:v>
                </c:pt>
                <c:pt idx="1">
                  <c:v>Not rated</c:v>
                </c:pt>
                <c:pt idx="2">
                  <c:v>Good</c:v>
                </c:pt>
                <c:pt idx="3">
                  <c:v>Very Good</c:v>
                </c:pt>
                <c:pt idx="4">
                  <c:v>Poor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39.11</c:v>
                </c:pt>
                <c:pt idx="1">
                  <c:v>22.47</c:v>
                </c:pt>
                <c:pt idx="2">
                  <c:v>21.9</c:v>
                </c:pt>
                <c:pt idx="3">
                  <c:v>11.32</c:v>
                </c:pt>
                <c:pt idx="4">
                  <c:v>1.95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solidFill>
                <a:srgbClr val="F7F5F5"/>
              </a:solidFill>
              <a:latin typeface="Apto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style val="1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Votes (approx.)</c:v>
                </c:pt>
              </c:strCache>
            </c:strRef>
          </c:tx>
          <c:spPr>
            <a:solidFill>
              <a:srgbClr val="1991FF"/>
            </a:solidFill>
            <a:ln>
              <a:solidFill>
                <a:srgbClr val="1991FF"/>
              </a:solidFill>
            </a:ln>
          </c:spPr>
          <c:cat>
            <c:strRef>
              <c:f>Sheet1!$A$2:$A$11</c:f>
              <c:strCache>
                <c:ptCount val="10"/>
                <c:pt idx="0">
                  <c:v>2.0</c:v>
                </c:pt>
                <c:pt idx="1">
                  <c:v>2.5</c:v>
                </c:pt>
                <c:pt idx="2">
                  <c:v>3.0</c:v>
                </c:pt>
                <c:pt idx="3">
                  <c:v>3.5</c:v>
                </c:pt>
                <c:pt idx="4">
                  <c:v>3.8</c:v>
                </c:pt>
                <c:pt idx="5">
                  <c:v>4.0</c:v>
                </c:pt>
                <c:pt idx="6">
                  <c:v>4.2</c:v>
                </c:pt>
                <c:pt idx="7">
                  <c:v>4.5</c:v>
                </c:pt>
                <c:pt idx="8">
                  <c:v>4.8</c:v>
                </c:pt>
                <c:pt idx="9">
                  <c:v>5.0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2000</c:v>
                </c:pt>
                <c:pt idx="1">
                  <c:v>12000</c:v>
                </c:pt>
                <c:pt idx="2">
                  <c:v>9000</c:v>
                </c:pt>
                <c:pt idx="3">
                  <c:v>65000</c:v>
                </c:pt>
                <c:pt idx="4">
                  <c:v>110000</c:v>
                </c:pt>
                <c:pt idx="5">
                  <c:v>120000</c:v>
                </c:pt>
                <c:pt idx="6">
                  <c:v>115000</c:v>
                </c:pt>
                <c:pt idx="7">
                  <c:v>65000</c:v>
                </c:pt>
                <c:pt idx="8">
                  <c:v>30000</c:v>
                </c:pt>
                <c:pt idx="9">
                  <c:v>55000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F7F5F5"/>
                </a:solidFill>
                <a:latin typeface="Aptos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664C51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DCCDCF"/>
                </a:solidFill>
                <a:latin typeface="Aptos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900">
          <a:solidFill>
            <a:srgbClr val="F7F5F5"/>
          </a:solidFill>
          <a:latin typeface="Aptos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6692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3200" b="1">
                <a:solidFill>
                  <a:srgbClr val="F7F5F5"/>
                </a:solidFill>
                <a:latin typeface="Aptos"/>
              </a:rPr>
              <a:t>ZOMATO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96112"/>
            <a:ext cx="10698480" cy="32004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DCCDCF"/>
                </a:solidFill>
                <a:latin typeface="Aptos"/>
              </a:rPr>
              <a:t>Restaurant performance • ratings • customer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1201400" cy="480060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10-13 121241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98" y="1600200"/>
            <a:ext cx="794269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DCCDCF"/>
                </a:solidFill>
                <a:latin typeface="Aptos"/>
              </a:rPr>
              <a:t>Dashboard overview and key findings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Dashboard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A snapshot of restaurant listings, customer ratings and activity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8191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Total restaurants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" y="190195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11095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10K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50876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58191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Average rating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190195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911095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2.67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50876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19" y="158191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Average cost for two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36407" y="190195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911095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1.20K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8892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6207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Total votes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" y="318211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91256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1M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78892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86207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Cities covered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318211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3191256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147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79" y="2788920"/>
            <a:ext cx="3200400" cy="1005840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19" y="2862072"/>
            <a:ext cx="301752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DCCDCF"/>
                </a:solidFill>
                <a:latin typeface="Aptos"/>
              </a:rPr>
              <a:t>Cuisine entries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36407" y="3182112"/>
            <a:ext cx="2980944" cy="438912"/>
          </a:xfrm>
          <a:prstGeom prst="roundRect">
            <a:avLst/>
          </a:prstGeom>
          <a:solidFill>
            <a:srgbClr val="FAF9F9"/>
          </a:solidFill>
          <a:ln w="10160">
            <a:solidFill>
              <a:srgbClr val="FAF9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0" y="3191256"/>
            <a:ext cx="2926080" cy="4114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100" b="1">
                <a:solidFill>
                  <a:srgbClr val="261E20"/>
                </a:solidFill>
                <a:latin typeface="Aptos"/>
              </a:rPr>
              <a:t>1.831K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160520"/>
            <a:ext cx="10332720" cy="160020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343400"/>
            <a:ext cx="9875520" cy="32004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7F5F5"/>
                </a:solidFill>
                <a:latin typeface="Aptos"/>
              </a:rPr>
              <a:t>What this dashboard helps answer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681728"/>
            <a:ext cx="9692640" cy="91440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Where are restaurant listings concentrated?</a:t>
            </a:r>
          </a:p>
          <a:p>
            <a:pPr>
              <a:spcAft>
                <a:spcPts val="4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How do ratings, delivery availability and votes vary?</a:t>
            </a:r>
          </a:p>
          <a:p>
            <a:pPr>
              <a:spcAft>
                <a:spcPts val="4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What patterns can guide restaurant-market decisions?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Restaurant Distribution by 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The visible dashboard shows New Delhi leading the selected cities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94944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0472"/>
            <a:ext cx="6620255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7F5F5"/>
                </a:solidFill>
                <a:latin typeface="Aptos"/>
              </a:rPr>
              <a:t>Count of restaurants by city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" y="1856232"/>
          <a:ext cx="662025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417320"/>
            <a:ext cx="388620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38328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Key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194560"/>
            <a:ext cx="3246120" cy="329184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New Delhi has the largest restaurant count in the displayed comparison.</a:t>
            </a:r>
          </a:p>
          <a:p>
            <a:pPr>
              <a:spcAft>
                <a:spcPts val="12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Gurgaon and Noida form the next tier.</a:t>
            </a:r>
          </a:p>
          <a:p>
            <a:pPr>
              <a:spcAft>
                <a:spcPts val="12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Faridabad and Ghaziabad contribute a much smaller share.</a:t>
            </a:r>
          </a:p>
          <a:p>
            <a:pPr>
              <a:spcAft>
                <a:spcPts val="12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A city-wise view can help compare market concentration.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Online Delivery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A majority of listed restaurants in the dashboard are marked as not offering online delivery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452628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7F5F5"/>
                </a:solidFill>
                <a:latin typeface="Aptos"/>
              </a:rPr>
              <a:t>Delivery status (as shown)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234440" y="2057400"/>
          <a:ext cx="40233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572000" cy="31089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DCCDCF"/>
                </a:solidFill>
                <a:latin typeface="Aptos"/>
              </a:defRPr>
            </a:pPr>
            <a:r>
              <a:t>About 74.29% are shown as not offering online delivery.</a:t>
            </a:r>
          </a:p>
          <a:p>
            <a:pPr>
              <a:spcAft>
                <a:spcPts val="1500"/>
              </a:spcAft>
              <a:defRPr sz="1500">
                <a:solidFill>
                  <a:srgbClr val="DCCDCF"/>
                </a:solidFill>
                <a:latin typeface="Aptos"/>
              </a:defRPr>
            </a:pPr>
            <a:r>
              <a:t>About 25.65% are shown as offering online delivery.</a:t>
            </a:r>
          </a:p>
          <a:p>
            <a:pPr>
              <a:spcAft>
                <a:spcPts val="1500"/>
              </a:spcAft>
              <a:defRPr sz="1500">
                <a:solidFill>
                  <a:srgbClr val="DCCDCF"/>
                </a:solidFill>
                <a:latin typeface="Aptos"/>
              </a:defRPr>
            </a:pPr>
            <a:r>
              <a:t>Delivery availability may affect convenience and customer reach.</a:t>
            </a:r>
          </a:p>
          <a:p>
            <a:pPr>
              <a:spcAft>
                <a:spcPts val="1500"/>
              </a:spcAft>
              <a:defRPr sz="1500">
                <a:solidFill>
                  <a:srgbClr val="DCCDCF"/>
                </a:solidFill>
                <a:latin typeface="Aptos"/>
              </a:defRPr>
            </a:pPr>
            <a:r>
              <a:t>Restaurants can use this split to review their digital service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Ratings and Price Range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The dashboard compares rating levels across price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94944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0472"/>
            <a:ext cx="6620255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7F5F5"/>
                </a:solidFill>
                <a:latin typeface="Aptos"/>
              </a:rPr>
              <a:t>Rating by price range (dashboard view)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" y="1856232"/>
          <a:ext cx="662025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417320"/>
            <a:ext cx="388620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38328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Reading the chart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194560"/>
            <a:ext cx="3246120" cy="338328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The displayed bars are longest for rating levels 1 and 2.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The count falls for ratings 3 and 4 in this view.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Use the rating breakdown alongside price to identify areas for improvement.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The source image does not provide a detailed data table, so chart values here are illustrative.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Customer Rating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Text labels provide a quick view of how ratings are classified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303520" cy="452628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846320" cy="32004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7F5F5"/>
                </a:solidFill>
                <a:latin typeface="Aptos"/>
              </a:rPr>
              <a:t>Rating text distribution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234440" y="2057400"/>
          <a:ext cx="402336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217920" y="1417320"/>
            <a:ext cx="5349240" cy="452628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What stands 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572000" cy="320040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“Average” is the largest displayed category at about 39.11%.</a:t>
            </a:r>
          </a:p>
          <a:p>
            <a:pPr>
              <a:spcAft>
                <a:spcPts val="13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“Not rated” represents roughly 22.47% of entries.</a:t>
            </a:r>
          </a:p>
          <a:p>
            <a:pPr>
              <a:spcAft>
                <a:spcPts val="13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“Good” accounts for about 21.9%, while “Very Good” is around 11.32%.</a:t>
            </a:r>
          </a:p>
          <a:p>
            <a:pPr>
              <a:spcAft>
                <a:spcPts val="1300"/>
              </a:spcAft>
              <a:defRPr sz="1400">
                <a:solidFill>
                  <a:srgbClr val="DCCDCF"/>
                </a:solidFill>
                <a:latin typeface="Aptos"/>
              </a:defRPr>
            </a:pPr>
            <a:r>
              <a:t>The “Poor” category is comparatively small at about 1.95%.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Votes by Rating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Votes indicate customer engagement across the rating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694944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490472"/>
            <a:ext cx="6620255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7F5F5"/>
                </a:solidFill>
                <a:latin typeface="Aptos"/>
              </a:rPr>
              <a:t>Total votes by rating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67512" y="1856232"/>
          <a:ext cx="6620255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417320"/>
            <a:ext cx="3886200" cy="4480560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691640"/>
            <a:ext cx="338328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Engagement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6992" y="2194560"/>
            <a:ext cx="3246120" cy="338328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Vote volume rises notably around ratings in the mid-to-high 3s and 4s.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The visible chart peaks around the rating-4 region.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Lower vote counts appear at the low end of the rating scale.</a:t>
            </a:r>
          </a:p>
          <a:p>
            <a:pPr>
              <a:spcAft>
                <a:spcPts val="10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More votes can make a rating more informative, but votes alone do not prove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7F5F5"/>
                </a:solidFill>
                <a:latin typeface="Aptos"/>
              </a:rPr>
              <a:t>Key Takeaways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77240"/>
            <a:ext cx="10789920" cy="29260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CCDCF"/>
                </a:solidFill>
                <a:latin typeface="Aptos"/>
              </a:rPr>
              <a:t>A concise summary of the Zomato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914400" cy="45720"/>
          </a:xfrm>
          <a:prstGeom prst="rect">
            <a:avLst/>
          </a:prstGeom>
          <a:solidFill>
            <a:srgbClr val="E01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7080" y="6473952"/>
            <a:ext cx="731520" cy="18288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r"/>
            <a:r>
              <a:rPr sz="900" b="0">
                <a:solidFill>
                  <a:srgbClr val="DCCDCF"/>
                </a:solidFill>
                <a:latin typeface="Aptos"/>
              </a:rP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583680" cy="804672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182880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7F5F5"/>
                </a:solidFill>
                <a:latin typeface="Aptos"/>
              </a:rPr>
              <a:t>Market coverage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472184"/>
            <a:ext cx="4389120" cy="56692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CCDCF"/>
                </a:solidFill>
                <a:latin typeface="Aptos"/>
              </a:rPr>
              <a:t>The dashboard summarizes around 10K restaurants across 147 cities.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04872"/>
            <a:ext cx="6583680" cy="804672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78024"/>
            <a:ext cx="182880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7F5F5"/>
                </a:solidFill>
                <a:latin typeface="Aptos"/>
              </a:rPr>
              <a:t>Customer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459736"/>
            <a:ext cx="4389120" cy="56692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CCDCF"/>
                </a:solidFill>
                <a:latin typeface="Aptos"/>
              </a:rPr>
              <a:t>The average rating shown is 2.67, so rating improvement may be a useful focus.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392424"/>
            <a:ext cx="6583680" cy="804672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65576"/>
            <a:ext cx="182880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7F5F5"/>
                </a:solidFill>
                <a:latin typeface="Aptos"/>
              </a:rPr>
              <a:t>Digital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447288"/>
            <a:ext cx="4389120" cy="56692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CCDCF"/>
                </a:solidFill>
                <a:latin typeface="Aptos"/>
              </a:rPr>
              <a:t>Online delivery is available for a smaller share than the no-delivery group in the displayed split.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79976"/>
            <a:ext cx="6583680" cy="804672"/>
          </a:xfrm>
          <a:prstGeom prst="roundRect">
            <a:avLst/>
          </a:prstGeom>
          <a:solidFill>
            <a:srgbClr val="3D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53128"/>
            <a:ext cx="1828800" cy="256032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F7F5F5"/>
                </a:solidFill>
                <a:latin typeface="Aptos"/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4434840"/>
            <a:ext cx="4389120" cy="566928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CCDCF"/>
                </a:solidFill>
                <a:latin typeface="Aptos"/>
              </a:rPr>
              <a:t>About 1M total votes are shown, giving a broad view of customer activity.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1417320"/>
            <a:ext cx="3977639" cy="3767328"/>
          </a:xfrm>
          <a:prstGeom prst="roundRect">
            <a:avLst/>
          </a:prstGeom>
          <a:solidFill>
            <a:srgbClr val="4F1B1F"/>
          </a:solidFill>
          <a:ln w="10160">
            <a:solidFill>
              <a:srgbClr val="68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691640"/>
            <a:ext cx="3429000" cy="36576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l"/>
            <a:r>
              <a:rPr sz="1800" b="1">
                <a:solidFill>
                  <a:srgbClr val="F7F5F5"/>
                </a:solidFill>
                <a:latin typeface="Aptos"/>
              </a:rPr>
              <a:t>Suggested next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240280"/>
            <a:ext cx="3383280" cy="25603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Compare ratings city by city.</a:t>
            </a:r>
          </a:p>
          <a:p>
            <a:pPr>
              <a:spcAft>
                <a:spcPts val="12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Explore rating patterns by cuisine and cost.</a:t>
            </a:r>
          </a:p>
          <a:p>
            <a:pPr>
              <a:spcAft>
                <a:spcPts val="12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Check delivery availability against votes and ratings.</a:t>
            </a:r>
          </a:p>
          <a:p>
            <a:pPr>
              <a:spcAft>
                <a:spcPts val="1200"/>
              </a:spcAft>
              <a:defRPr sz="1300">
                <a:solidFill>
                  <a:srgbClr val="DCCDCF"/>
                </a:solidFill>
                <a:latin typeface="Aptos"/>
              </a:defRPr>
            </a:pPr>
            <a:r>
              <a:t>Validate all illustrative values with the underlying dataset before formal reporting.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2700" b="1">
                <a:solidFill>
                  <a:srgbClr val="F7F5F5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91072"/>
            <a:ext cx="10698480" cy="228600"/>
          </a:xfrm>
          <a:prstGeom prst="rect">
            <a:avLst/>
          </a:prstGeom>
          <a:noFill/>
        </p:spPr>
        <p:txBody>
          <a:bodyPr wrap="none" lIns="54864" rIns="54864" tIns="18288" bIns="18288" anchor="ctr">
            <a:spAutoFit/>
          </a:bodyPr>
          <a:lstStyle/>
          <a:p>
            <a:pPr algn="ctr"/>
            <a:r>
              <a:rPr sz="1000" b="0">
                <a:solidFill>
                  <a:srgbClr val="DCCDCF"/>
                </a:solidFill>
                <a:latin typeface="Aptos"/>
              </a:rPr>
              <a:t>Prepared from the supplied Zomato Analysis Dashboard screenshot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